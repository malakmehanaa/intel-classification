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5C"/>
              </a:solidFill>
              <a:effectLst/>
            </c:spPr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bubble3D val="0"/>
            <c:spPr>
              <a:solidFill>
                <a:srgbClr val="AED6F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70%</c:v>
                </c:pt>
                <c:pt idx="1">
                  <c:v>Val 15%</c:v>
                </c:pt>
                <c:pt idx="2">
                  <c:v>Test 15%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Scratch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84</c:v>
                </c:pt>
                <c:pt idx="2">
                  <c:v>83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92</c:v>
                </c:pt>
                <c:pt idx="2">
                  <c:v>91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95193920"/>
        <c:axId val="-1095206976"/>
      </c:barChart>
      <c:catAx>
        <c:axId val="-1095193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6976"/>
        <c:crosses val="autoZero"/>
        <c:auto val="1"/>
        <c:lblAlgn val="ctr"/>
        <c:lblOffset val="100"/>
        <c:noMultiLvlLbl val="1"/>
      </c:catAx>
      <c:valAx>
        <c:axId val="-1095206976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19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Scratch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Buildings</c:v>
                </c:pt>
                <c:pt idx="1">
                  <c:v>Forest</c:v>
                </c:pt>
                <c:pt idx="2">
                  <c:v>Glacier</c:v>
                </c:pt>
                <c:pt idx="3">
                  <c:v>Mountain</c:v>
                </c:pt>
                <c:pt idx="4">
                  <c:v>Sea</c:v>
                </c:pt>
                <c:pt idx="5">
                  <c:v>Street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</c:v>
                </c:pt>
                <c:pt idx="1">
                  <c:v>94</c:v>
                </c:pt>
                <c:pt idx="2">
                  <c:v>80</c:v>
                </c:pt>
                <c:pt idx="3">
                  <c:v>80</c:v>
                </c:pt>
                <c:pt idx="4">
                  <c:v>87</c:v>
                </c:pt>
                <c:pt idx="5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Buildings</c:v>
                </c:pt>
                <c:pt idx="1">
                  <c:v>Forest</c:v>
                </c:pt>
                <c:pt idx="2">
                  <c:v>Glacier</c:v>
                </c:pt>
                <c:pt idx="3">
                  <c:v>Mountain</c:v>
                </c:pt>
                <c:pt idx="4">
                  <c:v>Sea</c:v>
                </c:pt>
                <c:pt idx="5">
                  <c:v>Street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92</c:v>
                </c:pt>
                <c:pt idx="1">
                  <c:v>97</c:v>
                </c:pt>
                <c:pt idx="2">
                  <c:v>89</c:v>
                </c:pt>
                <c:pt idx="3">
                  <c:v>89</c:v>
                </c:pt>
                <c:pt idx="4">
                  <c:v>93</c:v>
                </c:pt>
                <c:pt idx="5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95202624"/>
        <c:axId val="-1095200448"/>
      </c:barChart>
      <c:catAx>
        <c:axId val="-1095202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0448"/>
        <c:crosses val="autoZero"/>
        <c:auto val="1"/>
        <c:lblAlgn val="ctr"/>
        <c:lblOffset val="100"/>
        <c:noMultiLvlLbl val="1"/>
      </c:catAx>
      <c:valAx>
        <c:axId val="-1095200448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49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  vs.  Transfer Learning (MobileNetV2)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 •  ~17,000 Images  •  100×100 px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|  [Course]  | 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6-class scene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3212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&amp; augmentation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50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4-block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2350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fine-tuning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charts, confusion matrix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Intel Image Classification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natural scene categories: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 —  urban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 —  woodland / trees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 —  icy landscapes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 —  rocky terrain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 —  ocean &amp; coastal scenes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 —  urban roads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images: ~17,000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 (~2,833 each)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corrupted files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split: seg_train + seg_test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(70 / 15 / 15):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840480" cy="14478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9144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4846320" y="278892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to 100 × 100 px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pixels [0,255] → [0.0, 1.0]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 — 0 corrupted files found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augmentation on training set only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&amp; Test: rescale only (no augmentation)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32  |  Shuffle training 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 Only):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84048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flip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 – 1.2]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CNN from Scratch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240792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× 3 RGB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Conv(32) + BN + MaxPool + Dropout(0.25)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Conv(64) + BN + MaxPool + Dropout(0.25)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Conv(128) + BN + MaxPool + 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Conv(256) + BN + MaxPool + 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units + Dropout(0.50)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units + Dropout(0.40)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units — Softmax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841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61872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(lr = 0.001)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EarlyStopping: patience = 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ReduceLROnPlateau: factor = 0.2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~3.2M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Transfer Learning (MobileNetV2)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 on MobileNetV2: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24079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× 3 RGB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pre-trained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GlobalAvgPool2D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pooling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Dense(256) + BN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+ BatchNorm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Dense(128)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activation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Dense(6)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— 6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760720" y="841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16276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layers: FROZEN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head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epochs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429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layers: UNFROZEN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trained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epochs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 + EarlyStopping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508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Scratch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31920" cy="15087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8869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468880"/>
          <a:ext cx="82296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F1-Score &amp; Confusion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82296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Observations: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261872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Forest: easiest class (high recall both models)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↔ Mountain: most confused pair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↔ Buildings: secondary issue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reduces all off-diagonal errors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3611880"/>
            <a:ext cx="283464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confusion matrix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from results/ folder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96112"/>
          <a:ext cx="8046720" cy="260604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~83–86%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~91–93%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~20–35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(ImageNet)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outperforms CNN Scratch on all metrics (~92% vs ~85% accuracy)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converges faster — pre-trained ImageNet features give a strong start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&amp; Mountain are the hardest classes to separate (visually similar)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 + augmentation prevented overfitting in both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Scratch still achieves strong results (&gt;83%) learning from ~12K images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224×224 input size for better accuracy with MobileNetV2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EfficientNetB3 or ResNet50 as stronger backbones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Grad-CAM for model interpretability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TF Lite for edge devices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 Classification  •  CNN Scratch vs. MobileNetV2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 •  ~17K Images  •  Transfer Learning wins (~92%)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|  [Course]  |  2024–2025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Image Classification</dc:title>
  <dc:subject>PptxGenJS Presentation</dc:subject>
  <dc:creator>PptxGenJS</dc:creator>
  <cp:lastModifiedBy>Hp</cp:lastModifiedBy>
  <cp:revision>1</cp:revision>
  <dcterms:created xsi:type="dcterms:W3CDTF">2026-05-11T16:09:56Z</dcterms:created>
  <dcterms:modified xsi:type="dcterms:W3CDTF">2026-05-11T16:10:58Z</dcterms:modified>
</cp:coreProperties>
</file>